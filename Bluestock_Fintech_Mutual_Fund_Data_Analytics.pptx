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07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593" y="-50449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44144" y="1456879"/>
            <a:ext cx="9144000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kern="0" spc="-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Bluestock Fintech: Mutual Fund Data Analytics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-44144" y="2873120"/>
            <a:ext cx="9144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CCD6F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Empowering Financial Decisions through Data-Driven Insights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-69369" y="3730753"/>
            <a:ext cx="9144000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</a:t>
            </a:r>
            <a:r>
              <a:rPr lang="en-US" sz="1050" dirty="0" err="1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Ganjikunta</a:t>
            </a:r>
            <a:r>
              <a:rPr lang="en-US" sz="10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Mohan Krishna | June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Problem &amp; Objective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30536"/>
            <a:ext cx="37147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892B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Challenges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935956"/>
            <a:ext cx="37147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FFD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 Fragmentation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1500" y="2182416"/>
            <a:ext cx="3714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Mutual fund data exists in various inconsistent formats, making unified analysis difficult and error-prone.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2772445"/>
            <a:ext cx="37147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FFD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Performance Gaps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" y="3018904"/>
            <a:ext cx="3714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Investors lack tools for real-time performance comparison across different schemes and categories.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3608933"/>
            <a:ext cx="37147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FFD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Benchmark Tracking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" y="3855393"/>
            <a:ext cx="3714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 of automated systems to track fund performance against industry benchmarks.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57750" y="1430536"/>
            <a:ext cx="3714750" cy="242887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2" name="Text 9"/>
          <p:cNvSpPr/>
          <p:nvPr/>
        </p:nvSpPr>
        <p:spPr>
          <a:xfrm>
            <a:off x="5143500" y="1716286"/>
            <a:ext cx="31432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892B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Objective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43500" y="2221706"/>
            <a:ext cx="3143250" cy="1371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build a robust analytics pipeline that transforms raw AMFI data into actionable investment intelligence, enabling data-driven decision making for fintech stakeholders.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 Sources &amp; Inventory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644848"/>
            <a:ext cx="34290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87,000+ Rows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71500" y="2009180"/>
            <a:ext cx="3429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Mutual Fund Data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396728"/>
            <a:ext cx="34290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 Datasets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71500" y="2761059"/>
            <a:ext cx="3429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Schemes Covered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1500" y="3220045"/>
            <a:ext cx="3429000" cy="85725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3362920"/>
            <a:ext cx="31432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007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PRIMARY DATA SOURCES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4375" y="3571875"/>
            <a:ext cx="31432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AMFI India Public Data
mfapi.in Real-time APIs</a:t>
            </a:r>
            <a:endParaRPr lang="en-US" sz="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430536"/>
            <a:ext cx="4300538" cy="27289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System Architecture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51942"/>
            <a:ext cx="15001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541264"/>
            <a:ext cx="1500188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4FFD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EXTRACT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71500" y="1814513"/>
            <a:ext cx="15001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ingestion from AMFI and MFAPI sources.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2196703" y="1251942"/>
            <a:ext cx="15001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196703" y="1541264"/>
            <a:ext cx="1500188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4FFD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TRANSFORM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196703" y="1814513"/>
            <a:ext cx="15001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Cleaning, schema mapping, and data standardization.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21906" y="1251942"/>
            <a:ext cx="15001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21906" y="1541264"/>
            <a:ext cx="1500188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4FFD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LOAD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821906" y="1814513"/>
            <a:ext cx="15001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storage for high-performance querying.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447109" y="1251942"/>
            <a:ext cx="15001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47109" y="1541264"/>
            <a:ext cx="1500188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4FFD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ANALYSE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47109" y="1814513"/>
            <a:ext cx="15001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Calculating KPIs, CAGR, and complex risk ratios.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072313" y="1251942"/>
            <a:ext cx="15001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072313" y="1541264"/>
            <a:ext cx="1500188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4FFD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VISUALISE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072313" y="1814513"/>
            <a:ext cx="15001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dashboards for real-time monitoring.</a:t>
            </a:r>
            <a:endParaRPr lang="en-US" sz="7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23139"/>
            <a:ext cx="4657725" cy="23002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72125" y="2666014"/>
            <a:ext cx="30003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CD6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End-to-End Automation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572125" y="2857109"/>
            <a:ext cx="3000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seamless 5-layer pipeline designed for scalability and data integrity across 87K+ rows.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5572125" y="3342884"/>
            <a:ext cx="30003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CD6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Insight Generation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572125" y="3533980"/>
            <a:ext cx="3000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raw financial data into interactive visual intelligence for strategic decision making.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9553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124250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EDA Highlights: Market Trends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039415"/>
            <a:ext cx="3214688" cy="11430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Text 2"/>
          <p:cNvSpPr/>
          <p:nvPr/>
        </p:nvSpPr>
        <p:spPr>
          <a:xfrm>
            <a:off x="785811" y="1269418"/>
            <a:ext cx="27860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AUM MILESTONE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85813" y="1460513"/>
            <a:ext cx="2786063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Rs. 81L Cr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85813" y="1878422"/>
            <a:ext cx="278606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Monumental Growth in Assets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71500" y="2324735"/>
            <a:ext cx="3214688" cy="11430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9" name="Text 6"/>
          <p:cNvSpPr/>
          <p:nvPr/>
        </p:nvSpPr>
        <p:spPr>
          <a:xfrm>
            <a:off x="785813" y="2489596"/>
            <a:ext cx="27860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SIP INFLOWS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85813" y="2708573"/>
            <a:ext cx="2786063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Rs. 31,002 Cr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85810" y="3154365"/>
            <a:ext cx="278606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Retail Participation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71497" y="3710076"/>
            <a:ext cx="321468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Indian Mutual Fund industry continues its upward trajectory, driven by strong domestic institutional flows and increasing retail confidence through systematic investment plans.</a:t>
            </a:r>
            <a:endParaRPr lang="en-US" sz="9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C2C333-4781-5536-1185-0838C06EF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88" y="360886"/>
            <a:ext cx="4584512" cy="22840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D11184-DA24-CA9A-E378-08A2241688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682" y="2763577"/>
            <a:ext cx="4584513" cy="22808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221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EDA Highlights: Demographics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559123"/>
            <a:ext cx="3857625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892B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Geographic Distribution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71500" y="1993106"/>
            <a:ext cx="3857625" cy="15001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2207419"/>
            <a:ext cx="3429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FFD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T30 vs B30 Cities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5813" y="2452092"/>
            <a:ext cx="34290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Top 30 (T30) cities contribute the majority of AUM, Beyond 30 (B30) cities are showing a higher growth rate in new investor registrations.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71500" y="3707606"/>
            <a:ext cx="3857625" cy="15001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9" name="Text 6"/>
          <p:cNvSpPr/>
          <p:nvPr/>
        </p:nvSpPr>
        <p:spPr>
          <a:xfrm>
            <a:off x="785813" y="3921919"/>
            <a:ext cx="3429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FFD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Regional Growth Trends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5813" y="4166592"/>
            <a:ext cx="34290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Increased financial literacy and digital penetration are driving significant inflows from Tier 2 and Tier 3 locations, indicating a shift in market depth.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714875" y="1559123"/>
            <a:ext cx="3857625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892B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Investor Age-Group Distribution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993106"/>
            <a:ext cx="3857625" cy="2143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14875" y="4279106"/>
            <a:ext cx="38576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indicates a significant surge in participation from the 18-35 age bracket, reflecting the rise of tech-savvy retail investors.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Performance Analytics: Returns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644848"/>
            <a:ext cx="35718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FFD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Fund Performance Rankings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71501" y="1891308"/>
            <a:ext cx="2972588" cy="359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 ranking of 40+ schemes based on historical performance and consistency across market cycles.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517056"/>
            <a:ext cx="35718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FFD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CAGR Analysis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" y="2763515"/>
            <a:ext cx="2972589" cy="359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tracking of 1-year, 3-year, and 5-year Compounded Annual Growth Rates to identify long-term wealth creators.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3594981"/>
            <a:ext cx="35718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FFD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Alpha Generation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" y="3841440"/>
            <a:ext cx="2972589" cy="359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funds that consistently deliver returns above their respective benchmarks through active management.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31147" y="1008994"/>
            <a:ext cx="5374116" cy="3459622"/>
          </a:xfrm>
          <a:prstGeom prst="rect">
            <a:avLst/>
          </a:prstGeom>
          <a:solidFill>
            <a:srgbClr val="112240"/>
          </a:solidFill>
          <a:ln/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DAF93E-32AE-4EC7-760E-78C8B1B4A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147" y="1352696"/>
            <a:ext cx="5348237" cy="26741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936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1606" y="120550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Performance Analytics: Risk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225153"/>
            <a:ext cx="35718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Sharpe Ratio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4" y="1565535"/>
            <a:ext cx="2528987" cy="321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Evaluating risk-adjusted returns to identify funds with the best performance relative to volatility.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28623" y="2050430"/>
            <a:ext cx="35718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Sortino Ratio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8623" y="2299449"/>
            <a:ext cx="2756012" cy="321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Focusing specifically on downside risk to protect capital during market corrections.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28621" y="2707482"/>
            <a:ext cx="35718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Alpha &amp; Beta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0" y="3071813"/>
            <a:ext cx="2528991" cy="321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market sensitivity (Beta) and the manager's ability to generate excess returns (Alpha).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28619" y="3558642"/>
            <a:ext cx="35718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Maximum Drawdown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8618" y="3821907"/>
            <a:ext cx="2711873" cy="321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Measuring the peak-to-trough decline to assess fund resilience in bear markets.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8617" y="4268564"/>
            <a:ext cx="3571875" cy="71437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3" name="Text 10"/>
          <p:cNvSpPr/>
          <p:nvPr/>
        </p:nvSpPr>
        <p:spPr>
          <a:xfrm>
            <a:off x="493658" y="4337916"/>
            <a:ext cx="32861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007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RISK MANAGEMENT FRAMEWORK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93657" y="4544306"/>
            <a:ext cx="328612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assessment beyond simple returns.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62E1AEF-F8FB-D520-86CE-CEA0571D0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285" y="756854"/>
            <a:ext cx="6060265" cy="32257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Dashboard: Industry &amp; Performance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537692"/>
            <a:ext cx="30003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Real-Time Monitoring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71500" y="1796653"/>
            <a:ext cx="30003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view of industry-wide AUM trends and category-wise performance metrics updated via MFAPI.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2521744"/>
            <a:ext cx="30003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Comparative Analysis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" y="2780705"/>
            <a:ext cx="30003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Side-by-side comparison of multiple schemes against selected benchmarks for relative performance tracking.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" y="3505795"/>
            <a:ext cx="30003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Interactive Filters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" y="3764756"/>
            <a:ext cx="30003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drill-down capabilities by Asset Management Company (AMC), category, and custom time periods.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" y="4489847"/>
            <a:ext cx="30003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Visual Clarity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1500" y="4748808"/>
            <a:ext cx="30003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charts and heatmaps designed for rapid identification of market leaders and laggards.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19755E-DAD2-BACB-E5B2-79F3EEA6D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827" y="1035869"/>
            <a:ext cx="5289332" cy="32753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80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Dashboard: Investor &amp; Market Trends</a:t>
            </a:r>
            <a:endParaRPr lang="en-US" sz="2450" dirty="0"/>
          </a:p>
        </p:txBody>
      </p:sp>
      <p:sp>
        <p:nvSpPr>
          <p:cNvPr id="5" name="Shape 1"/>
          <p:cNvSpPr/>
          <p:nvPr/>
        </p:nvSpPr>
        <p:spPr>
          <a:xfrm>
            <a:off x="5357813" y="1453753"/>
            <a:ext cx="1525191" cy="157163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6" name="Text 2"/>
          <p:cNvSpPr/>
          <p:nvPr/>
        </p:nvSpPr>
        <p:spPr>
          <a:xfrm>
            <a:off x="5357813" y="1453753"/>
            <a:ext cx="1525191" cy="157163"/>
          </a:xfrm>
          <a:prstGeom prst="rect">
            <a:avLst/>
          </a:prstGeom>
          <a:noFill/>
          <a:ln/>
        </p:spPr>
        <p:txBody>
          <a:bodyPr wrap="square" lIns="127508" tIns="42545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007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MARKET INTELLIGENCE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5357813" y="1896666"/>
            <a:ext cx="3214688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Investor Behavior Tracking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357813" y="2155627"/>
            <a:ext cx="32146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monitoring of SIP registration trends and redemption patterns across different fund categories.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357813" y="2698552"/>
            <a:ext cx="3214688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Demographic Insights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357813" y="2957513"/>
            <a:ext cx="3214688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Visualizing geographic heatmaps and investor age-group distributions to identify emerging market segments.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357813" y="3682603"/>
            <a:ext cx="3214688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Sentiment Correlation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357813" y="3941564"/>
            <a:ext cx="32146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Correlating fund inflows with broader market indices and macroeconomic factors for a holistic view.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002B21-2D0A-B771-097E-C35BA3310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18" y="1629642"/>
            <a:ext cx="4900082" cy="26557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Key Findings &amp; Recommendations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30536"/>
            <a:ext cx="2428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07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CONSERVATIVE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1659136"/>
            <a:ext cx="2428875" cy="33932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LOW RISK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141339"/>
            <a:ext cx="24288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CD6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Debt &amp; Liquid Funds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2332434"/>
            <a:ext cx="242887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high-quality AAA-rated debt instruments and liquid schemes for capital preservation and steady income.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2957513"/>
            <a:ext cx="24288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CD6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Short-Term Focus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3148608"/>
            <a:ext cx="242887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for investors with a 1-3 year horizon seeking lower volatility than equity markets.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357563" y="1430536"/>
            <a:ext cx="2428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07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BALANCED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357563" y="1659136"/>
            <a:ext cx="2428875" cy="33932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MODERATE RISK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57563" y="2141339"/>
            <a:ext cx="24288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CD6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Large-Cap &amp; Hybrid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57563" y="2332434"/>
            <a:ext cx="242887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mix of blue-chip equity funds and corporate bonds to provide growth with a safety cushion.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357563" y="2796778"/>
            <a:ext cx="24288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CD6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Consistent CAGR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357563" y="2987873"/>
            <a:ext cx="242887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Targeting steady long-term wealth creation with moderate exposure to market fluctuations.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143625" y="1430536"/>
            <a:ext cx="2428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07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AGGRESSIVE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143625" y="1659136"/>
            <a:ext cx="2428875" cy="33932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HIGH RISK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43625" y="2141339"/>
            <a:ext cx="24288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CD6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Mid, Small &amp; Sectoral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43625" y="2332434"/>
            <a:ext cx="242887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Growth-oriented portfolio with significant exposure to emerging sectors and high-growth mid-cap companies.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43625" y="2957513"/>
            <a:ext cx="24288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CD6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Alpha Generation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43625" y="3148608"/>
            <a:ext cx="242887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long-term investors (7+ years) aiming to significantly outperform broad market benchmarks.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71500" y="4000500"/>
            <a:ext cx="8001000" cy="71437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3" name="Text 20"/>
          <p:cNvSpPr/>
          <p:nvPr/>
        </p:nvSpPr>
        <p:spPr>
          <a:xfrm>
            <a:off x="785813" y="4143375"/>
            <a:ext cx="75723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"Core Insight: Diversification across asset classes remains the most effective strategy for long-term wealth creation and risk mitigation in the Indian Mutual Fund landscape."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666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61009" y="687586"/>
            <a:ext cx="4421981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150" b="1" kern="0" spc="-2" dirty="0">
                <a:solidFill>
                  <a:srgbClr val="64FF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Thank You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2361009" y="1487686"/>
            <a:ext cx="442198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8892B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Questions &amp; Feedback are Welcome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699" y="2464816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30131" y="2819996"/>
            <a:ext cx="283731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CCD6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Email 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3706377" y="3136353"/>
            <a:ext cx="1731243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[mohankrishnaganjikunta@gmail.com]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2361009" y="3734395"/>
            <a:ext cx="4421981" cy="721519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2" name="Shape 7"/>
          <p:cNvSpPr/>
          <p:nvPr/>
        </p:nvSpPr>
        <p:spPr>
          <a:xfrm>
            <a:off x="2361009" y="3734395"/>
            <a:ext cx="4421981" cy="7144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3" name="Text 8"/>
          <p:cNvSpPr/>
          <p:nvPr/>
        </p:nvSpPr>
        <p:spPr>
          <a:xfrm>
            <a:off x="2646759" y="3880842"/>
            <a:ext cx="385048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kern="0" spc="1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REPOSITORY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2646759" y="4038005"/>
            <a:ext cx="3850481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50" dirty="0">
                <a:solidFill>
                  <a:srgbClr val="64FFD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github.com/mightymistic007/</a:t>
            </a:r>
            <a:r>
              <a:rPr lang="en-US" sz="1050" dirty="0" err="1">
                <a:solidFill>
                  <a:srgbClr val="64FFD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bluestock_mf_capstone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808</Words>
  <Application>Microsoft Office PowerPoint</Application>
  <PresentationFormat>On-screen Show (16:9)</PresentationFormat>
  <Paragraphs>129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Inter</vt:lpstr>
      <vt:lpstr>Inter Light</vt:lpstr>
      <vt:lpstr>Inter SemiBold</vt:lpstr>
      <vt:lpstr>Space Grotesk</vt:lpstr>
      <vt:lpstr>Space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Malikarjunarao G</cp:lastModifiedBy>
  <cp:revision>8</cp:revision>
  <dcterms:created xsi:type="dcterms:W3CDTF">2026-06-10T11:25:18Z</dcterms:created>
  <dcterms:modified xsi:type="dcterms:W3CDTF">2026-06-10T15:44:51Z</dcterms:modified>
</cp:coreProperties>
</file>